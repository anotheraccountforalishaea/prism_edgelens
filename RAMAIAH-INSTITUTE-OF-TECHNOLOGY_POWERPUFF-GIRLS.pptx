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374" r:id="rId3"/>
    <p:sldId id="375" r:id="rId4"/>
    <p:sldId id="257" r:id="rId6"/>
    <p:sldId id="376" r:id="rId7"/>
    <p:sldId id="377" r:id="rId8"/>
    <p:sldId id="378" r:id="rId9"/>
    <p:sldId id="379" r:id="rId10"/>
    <p:sldId id="380" r:id="rId11"/>
    <p:sldId id="382" r:id="rId12"/>
    <p:sldId id="38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91" autoAdjust="0"/>
    <p:restoredTop sz="94660"/>
  </p:normalViewPr>
  <p:slideViewPr>
    <p:cSldViewPr snapToGrid="0">
      <p:cViewPr varScale="1">
        <p:scale>
          <a:sx n="85" d="100"/>
          <a:sy n="85" d="100"/>
        </p:scale>
        <p:origin x="75" y="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AFF0E-449D-426B-83E6-7E557F3BCD7F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2ADFC2-4656-49F6-8F5B-84313FD65219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F44E2-D9AA-43EA-B93A-EEC6CDC19CD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C16B2-A79F-4EF3-B109-260A8C965ED1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98"/>
          <p:cNvPicPr>
            <a:picLocks noChangeAspect="1"/>
          </p:cNvPicPr>
          <p:nvPr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5216" t="9860" r="35722" b="40504"/>
          <a:stretch>
            <a:fillRect/>
          </a:stretch>
        </p:blipFill>
        <p:spPr>
          <a:xfrm>
            <a:off x="7372538" y="1619794"/>
            <a:ext cx="4421349" cy="563823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0" y="604461"/>
            <a:ext cx="21825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Berlin Sans FB Demi" panose="020E0802020502020306" pitchFamily="34" charset="0"/>
                <a:ea typeface="SamsungOne 800" panose="020B0903030303020204" pitchFamily="34" charset="0"/>
              </a:rPr>
              <a:t>CLASH OF THE</a:t>
            </a:r>
            <a:endParaRPr lang="en-US" sz="2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756232" y="436120"/>
            <a:ext cx="2091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CLAWS</a:t>
            </a:r>
            <a:endParaRPr lang="en-IN" sz="3600" dirty="0">
              <a:latin typeface="Berlin Sans FB Demi" panose="020E0802020502020306" pitchFamily="34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14680" y="2344420"/>
            <a:ext cx="7090410" cy="27914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IN" altLang="en-US" sz="28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RAMAIAH INSTITUTE OF TECHNOLOGY</a:t>
            </a:r>
            <a:r>
              <a:rPr lang="en-US" sz="28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_</a:t>
            </a:r>
            <a:r>
              <a:rPr lang="en-IN" altLang="en-US" sz="28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POWERPUFF GIRLS</a:t>
            </a:r>
            <a:endParaRPr lang="en-US" sz="28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r>
              <a:rPr lang="en-IN" altLang="en-US" sz="28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Where AI helps you ease your task</a:t>
            </a:r>
            <a:endParaRPr lang="en-US" sz="28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endParaRPr lang="en-US" sz="28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r>
              <a:rPr lang="en-IN" altLang="en-US" sz="28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ALISHA ERUM AHMED </a:t>
            </a:r>
            <a:endParaRPr lang="en-IN" altLang="en-US" sz="2800" b="1" dirty="0">
              <a:solidFill>
                <a:schemeClr val="tx2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r>
              <a:rPr lang="en-IN" altLang="en-US" sz="28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H M CHAITRA </a:t>
            </a:r>
            <a:endParaRPr lang="en-IN" altLang="en-US" sz="2800" b="1" dirty="0">
              <a:solidFill>
                <a:schemeClr val="tx2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r>
              <a:rPr lang="en-IN" altLang="en-US" sz="28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SDS KEERTHANA </a:t>
            </a:r>
            <a:endParaRPr lang="en-IN" altLang="en-US" sz="2800" b="1" dirty="0">
              <a:solidFill>
                <a:schemeClr val="tx2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r>
              <a:rPr lang="en-IN" altLang="en-US" sz="28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DHANELUKA SATHWIKA</a:t>
            </a:r>
            <a:br>
              <a:rPr lang="en-US" sz="28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</a:br>
            <a:endParaRPr lang="en-US" sz="2800" b="1" dirty="0">
              <a:solidFill>
                <a:schemeClr val="tx2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37355" y="46746"/>
            <a:ext cx="3814159" cy="639045"/>
            <a:chOff x="137355" y="133834"/>
            <a:chExt cx="3814159" cy="639045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355" y="133834"/>
              <a:ext cx="974396" cy="639045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1017814" y="244337"/>
              <a:ext cx="29337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Berlin Sans FB Demi" panose="020E0802020502020306" pitchFamily="34" charset="0"/>
                  <a:ea typeface="SamsungOne 800" panose="020B0903030303020204" pitchFamily="34" charset="0"/>
                </a:rPr>
                <a:t>| Tech Management, SRI-B</a:t>
              </a:r>
              <a:endParaRPr lang="en-US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p>
            <a:r>
              <a:rPr lang="en-IN" altLang="en-US"/>
              <a:t>Edge_Lens</a:t>
            </a:r>
            <a:endParaRPr lang="en-IN" altLang="en-US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4265" b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4265" dirty="0"/>
          </a:p>
        </p:txBody>
      </p:sp>
      <p:sp>
        <p:nvSpPr>
          <p:cNvPr id="18" name="Text 1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endParaRPr lang="en-US" sz="26665" dirty="0"/>
          </a:p>
        </p:txBody>
      </p:sp>
      <p:sp>
        <p:nvSpPr>
          <p:cNvPr id="9" name="TextBox 8"/>
          <p:cNvSpPr txBox="1"/>
          <p:nvPr/>
        </p:nvSpPr>
        <p:spPr>
          <a:xfrm>
            <a:off x="740410" y="1682750"/>
            <a:ext cx="7106920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We chose the GenAi Research and Productivity theme because finding AI models that truly work is extremely hard and very time-consuming. </a:t>
            </a:r>
            <a:endParaRPr lang="en-IN" dirty="0"/>
          </a:p>
          <a:p>
            <a:endParaRPr lang="en-IN" dirty="0"/>
          </a:p>
          <a:p>
            <a:r>
              <a:rPr lang="en-IN" dirty="0"/>
              <a:t>We are solving this problem with our AI model that fetches real time repositories,reserach papers and other necessary information from various sources like GitHub,HuggingFace and it’s a model that actually works unlike theoritical models that often fail.</a:t>
            </a:r>
            <a:endParaRPr lang="en-IN" dirty="0"/>
          </a:p>
          <a:p>
            <a:endParaRPr lang="en-IN" dirty="0"/>
          </a:p>
          <a:p>
            <a:r>
              <a:rPr lang="en-IN" dirty="0"/>
              <a:t>Anyone who is working on building a project on their own-- be it from scratch or a well engrossed AI engineer.</a:t>
            </a:r>
            <a:endParaRPr lang="en-IN" dirty="0"/>
          </a:p>
          <a:p>
            <a:endParaRPr lang="en-IN" dirty="0"/>
          </a:p>
          <a:p>
            <a:r>
              <a:rPr lang="en-IN" dirty="0"/>
              <a:t>It is important because it does not only works on time redundancy and efficiency but increases feasibility analysis and makes a project better.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p>
            <a:endParaRPr lang="en-IN" altLang="en-US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IN" altLang="en-US" sz="1000" dirty="0">
                <a:solidFill>
                  <a:schemeClr val="bg1"/>
                </a:solidFill>
              </a:rPr>
              <a:t>Edge_Lens</a:t>
            </a:r>
            <a:endParaRPr lang="en-IN" alt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4265" b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Current Solution &amp; Gaps</a:t>
            </a:r>
            <a:endParaRPr lang="en-US" sz="4265" dirty="0"/>
          </a:p>
        </p:txBody>
      </p:sp>
      <p:sp>
        <p:nvSpPr>
          <p:cNvPr id="18" name="Text 1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endParaRPr lang="en-US" sz="26665" dirty="0"/>
          </a:p>
        </p:txBody>
      </p:sp>
      <p:sp>
        <p:nvSpPr>
          <p:cNvPr id="9" name="TextBox 8"/>
          <p:cNvSpPr txBox="1"/>
          <p:nvPr/>
        </p:nvSpPr>
        <p:spPr>
          <a:xfrm>
            <a:off x="245745" y="1395730"/>
            <a:ext cx="9513570" cy="4932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dirty="0"/>
              <a:t>Existing solutions( if any):</a:t>
            </a:r>
            <a:endParaRPr lang="en-IN" dirty="0"/>
          </a:p>
          <a:p>
            <a:r>
              <a:rPr lang="en-US" altLang="en-US" dirty="0"/>
              <a:t>• HuggingFace </a:t>
            </a:r>
            <a:r>
              <a:rPr lang="en-IN" altLang="en-US" dirty="0"/>
              <a:t>helps in</a:t>
            </a:r>
            <a:r>
              <a:rPr lang="en-US" altLang="en-US" dirty="0"/>
              <a:t> model hosting</a:t>
            </a:r>
            <a:endParaRPr lang="en-US" altLang="en-US" dirty="0"/>
          </a:p>
          <a:p>
            <a:r>
              <a:rPr lang="en-US" altLang="en-US" dirty="0"/>
              <a:t>• GitHub </a:t>
            </a:r>
            <a:r>
              <a:rPr lang="en-IN" altLang="en-US" dirty="0"/>
              <a:t>accomplishes </a:t>
            </a:r>
            <a:r>
              <a:rPr lang="en-US" altLang="en-US" dirty="0"/>
              <a:t>open-source repositories</a:t>
            </a:r>
            <a:endParaRPr lang="en-US" altLang="en-US" dirty="0"/>
          </a:p>
          <a:p>
            <a:r>
              <a:rPr lang="en-US" altLang="en-US" dirty="0"/>
              <a:t>• ArXiv </a:t>
            </a:r>
            <a:r>
              <a:rPr lang="en-IN" altLang="en-US" dirty="0"/>
              <a:t>gives out</a:t>
            </a:r>
            <a:r>
              <a:rPr lang="en-US" altLang="en-US" dirty="0"/>
              <a:t> research papers</a:t>
            </a:r>
            <a:endParaRPr lang="en-US" altLang="en-US" dirty="0"/>
          </a:p>
          <a:p>
            <a:br>
              <a:rPr lang="en-IN" dirty="0"/>
            </a:br>
            <a:r>
              <a:rPr lang="en-IN" dirty="0"/>
              <a:t>What’s missing/broken:</a:t>
            </a:r>
            <a:endParaRPr lang="en-IN" dirty="0"/>
          </a:p>
          <a:p>
            <a:r>
              <a:rPr lang="en-US" altLang="en-US" dirty="0"/>
              <a:t>These platforms work </a:t>
            </a:r>
            <a:r>
              <a:rPr lang="en-IN" altLang="en-US" dirty="0"/>
              <a:t>solely on accuracy instead of giving real-time solutions to reach one’s goal</a:t>
            </a:r>
            <a:endParaRPr lang="en-IN" altLang="en-US" dirty="0"/>
          </a:p>
          <a:p>
            <a:endParaRPr lang="en-US" altLang="en-US" dirty="0"/>
          </a:p>
          <a:p>
            <a:r>
              <a:rPr lang="en-US" altLang="en-US" dirty="0"/>
              <a:t>They lack:</a:t>
            </a:r>
            <a:endParaRPr lang="en-US" altLang="en-US" dirty="0"/>
          </a:p>
          <a:p>
            <a:r>
              <a:rPr lang="en-US" altLang="en-US" dirty="0"/>
              <a:t>• Hardware-aware ranking</a:t>
            </a:r>
            <a:endParaRPr lang="en-US" altLang="en-US" dirty="0"/>
          </a:p>
          <a:p>
            <a:r>
              <a:rPr lang="en-US" altLang="en-US" dirty="0"/>
              <a:t>• RAM/latency analysis</a:t>
            </a:r>
            <a:endParaRPr lang="en-US" altLang="en-US" dirty="0"/>
          </a:p>
          <a:p>
            <a:r>
              <a:rPr lang="en-US" altLang="en-US" dirty="0"/>
              <a:t>• Cross-platform aggregation</a:t>
            </a:r>
            <a:endParaRPr lang="en-US" altLang="en-US" dirty="0"/>
          </a:p>
          <a:p>
            <a:r>
              <a:rPr lang="en-US" altLang="en-US" dirty="0"/>
              <a:t>• Feasibility scoring</a:t>
            </a:r>
            <a:endParaRPr lang="en-US" altLang="en-US" dirty="0"/>
          </a:p>
          <a:p>
            <a:r>
              <a:rPr lang="en-US" altLang="en-US" dirty="0"/>
              <a:t>• Unified comparison</a:t>
            </a:r>
            <a:endParaRPr lang="en-US" altLang="en-US" dirty="0"/>
          </a:p>
          <a:p>
            <a:endParaRPr lang="en-US" altLang="en-US" dirty="0"/>
          </a:p>
          <a:p>
            <a:r>
              <a:rPr lang="en-IN" dirty="0"/>
              <a:t>Opportunity:</a:t>
            </a:r>
            <a:endParaRPr lang="en-IN" dirty="0"/>
          </a:p>
          <a:p>
            <a:r>
              <a:rPr lang="en-US" altLang="en-US" dirty="0"/>
              <a:t>There is an opportunity to build a lightweight intelligence layer that bridges research and deployment.</a:t>
            </a:r>
            <a:endParaRPr lang="en-US" altLang="en-US" dirty="0"/>
          </a:p>
          <a:p>
            <a:r>
              <a:rPr lang="en-US" altLang="en-US" dirty="0"/>
              <a:t>PRISM EdgeLens helps users move from “interesting model” to “deployable model”.</a:t>
            </a:r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IN" altLang="en-US" sz="1000" dirty="0">
                <a:solidFill>
                  <a:schemeClr val="bg1"/>
                </a:solidFill>
              </a:rPr>
              <a:t>Edge_lens</a:t>
            </a:r>
            <a:endParaRPr lang="en-IN" alt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4265" b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Solutions</a:t>
            </a:r>
            <a:endParaRPr lang="en-US" sz="4265" dirty="0"/>
          </a:p>
        </p:txBody>
      </p:sp>
      <p:sp>
        <p:nvSpPr>
          <p:cNvPr id="18" name="Text 1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endParaRPr lang="en-US" sz="26665" dirty="0"/>
          </a:p>
        </p:txBody>
      </p:sp>
      <p:sp>
        <p:nvSpPr>
          <p:cNvPr id="9" name="TextBox 8"/>
          <p:cNvSpPr txBox="1"/>
          <p:nvPr/>
        </p:nvSpPr>
        <p:spPr>
          <a:xfrm>
            <a:off x="0" y="1250950"/>
            <a:ext cx="1063053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What you built:</a:t>
            </a:r>
            <a:endParaRPr lang="en-IN" dirty="0"/>
          </a:p>
          <a:p>
            <a:r>
              <a:rPr lang="en-US" altLang="en-US" dirty="0"/>
              <a:t>PRISM EdgeLens is a smart AI model discovery platform focused on edge-device deployment.</a:t>
            </a:r>
            <a:endParaRPr lang="en-US" altLang="en-US" dirty="0"/>
          </a:p>
          <a:p>
            <a:r>
              <a:rPr lang="en-US" altLang="en-US" dirty="0"/>
              <a:t>Instead of manually checking multiple websites, users can enter their hardware constraints and instantly discover suitable AI models</a:t>
            </a:r>
            <a:r>
              <a:rPr lang="en-IN" altLang="en-US" dirty="0"/>
              <a:t> and necessary projects.</a:t>
            </a:r>
            <a:endParaRPr lang="en-US" altLang="en-US" dirty="0"/>
          </a:p>
          <a:p>
            <a:endParaRPr lang="en-US" altLang="en-US" dirty="0"/>
          </a:p>
          <a:p>
            <a:r>
              <a:rPr lang="en-IN" dirty="0"/>
              <a:t>Core Ideas Explanation:</a:t>
            </a:r>
            <a:endParaRPr lang="en-IN" dirty="0"/>
          </a:p>
          <a:p>
            <a:r>
              <a:rPr lang="en-US" altLang="en-US" dirty="0"/>
              <a:t>The system parses user constraints such as:</a:t>
            </a:r>
            <a:endParaRPr lang="en-US" altLang="en-US" dirty="0"/>
          </a:p>
          <a:p>
            <a:r>
              <a:rPr lang="en-US" altLang="en-US" dirty="0"/>
              <a:t>• device type</a:t>
            </a:r>
            <a:endParaRPr lang="en-US" altLang="en-US" dirty="0"/>
          </a:p>
          <a:p>
            <a:r>
              <a:rPr lang="en-US" altLang="en-US" dirty="0"/>
              <a:t>• RAM</a:t>
            </a:r>
            <a:endParaRPr lang="en-US" altLang="en-US" dirty="0"/>
          </a:p>
          <a:p>
            <a:r>
              <a:rPr lang="en-US" altLang="en-US" dirty="0"/>
              <a:t>• latency</a:t>
            </a:r>
            <a:endParaRPr lang="en-US" altLang="en-US" dirty="0"/>
          </a:p>
          <a:p>
            <a:r>
              <a:rPr lang="en-US" altLang="en-US" dirty="0"/>
              <a:t>• offline requirements</a:t>
            </a:r>
            <a:endParaRPr lang="en-US" altLang="en-US" dirty="0"/>
          </a:p>
          <a:p>
            <a:r>
              <a:rPr lang="en-IN" altLang="en-US" dirty="0"/>
              <a:t> </a:t>
            </a:r>
            <a:endParaRPr lang="en-IN" dirty="0"/>
          </a:p>
          <a:p>
            <a:r>
              <a:rPr lang="en-IN" dirty="0"/>
              <a:t>Key Features:</a:t>
            </a:r>
            <a:endParaRPr lang="en-IN" dirty="0"/>
          </a:p>
          <a:p>
            <a:r>
              <a:rPr lang="en-US" altLang="en-US" dirty="0"/>
              <a:t>Smart AI model discovery</a:t>
            </a:r>
            <a:endParaRPr lang="en-US" altLang="en-US" dirty="0"/>
          </a:p>
          <a:p>
            <a:r>
              <a:rPr lang="en-US" altLang="en-US" dirty="0"/>
              <a:t>Hardware-aware filtering</a:t>
            </a:r>
            <a:endParaRPr lang="en-US" altLang="en-US" dirty="0"/>
          </a:p>
          <a:p>
            <a:r>
              <a:rPr lang="en-US" altLang="en-US" dirty="0"/>
              <a:t>Centralized research information</a:t>
            </a:r>
            <a:endParaRPr lang="en-US" altLang="en-US" dirty="0"/>
          </a:p>
          <a:p>
            <a:r>
              <a:rPr lang="en-US" altLang="en-US" dirty="0"/>
              <a:t>Faster deployment decisions</a:t>
            </a:r>
            <a:endParaRPr lang="en-US" altLang="en-US" dirty="0"/>
          </a:p>
          <a:p>
            <a:r>
              <a:rPr lang="en-US" altLang="en-US" dirty="0"/>
              <a:t>Productivity-focused workflow</a:t>
            </a:r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IN" altLang="en-US" sz="1000" dirty="0">
                <a:solidFill>
                  <a:schemeClr val="bg1"/>
                </a:solidFill>
              </a:rPr>
              <a:t>Edge_lens</a:t>
            </a:r>
            <a:endParaRPr lang="en-IN" alt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4265" b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Demo/Product Walkthrough</a:t>
            </a:r>
            <a:endParaRPr lang="en-US" sz="4265" dirty="0"/>
          </a:p>
        </p:txBody>
      </p:sp>
      <p:sp>
        <p:nvSpPr>
          <p:cNvPr id="18" name="Text 1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endParaRPr lang="en-US" sz="26665" dirty="0"/>
          </a:p>
        </p:txBody>
      </p:sp>
      <p:sp>
        <p:nvSpPr>
          <p:cNvPr id="9" name="TextBox 8"/>
          <p:cNvSpPr txBox="1"/>
          <p:nvPr/>
        </p:nvSpPr>
        <p:spPr>
          <a:xfrm>
            <a:off x="125730" y="1524000"/>
            <a:ext cx="12317730" cy="63023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dirty="0"/>
              <a:t>Screen/Flow</a:t>
            </a:r>
            <a:endParaRPr lang="en-IN" dirty="0"/>
          </a:p>
          <a:p>
            <a:r>
              <a:rPr lang="en-US" altLang="en-US" dirty="0"/>
              <a:t>Step 1</a:t>
            </a:r>
            <a:r>
              <a:rPr lang="en-IN" altLang="en-US" dirty="0"/>
              <a:t>:</a:t>
            </a:r>
            <a:r>
              <a:rPr lang="en-US" altLang="en-US" dirty="0"/>
              <a:t>User enters device specifications:</a:t>
            </a:r>
            <a:endParaRPr lang="en-US" altLang="en-US" dirty="0"/>
          </a:p>
          <a:p>
            <a:r>
              <a:rPr lang="en-US" altLang="en-US" dirty="0"/>
              <a:t>RAM</a:t>
            </a:r>
            <a:endParaRPr lang="en-US" altLang="en-US" dirty="0"/>
          </a:p>
          <a:p>
            <a:r>
              <a:rPr lang="en-US" altLang="en-US" dirty="0"/>
              <a:t>Storage</a:t>
            </a:r>
            <a:endParaRPr lang="en-US" altLang="en-US" dirty="0"/>
          </a:p>
          <a:p>
            <a:r>
              <a:rPr lang="en-US" altLang="en-US" dirty="0"/>
              <a:t>Device type</a:t>
            </a:r>
            <a:endParaRPr lang="en-US" altLang="en-US" dirty="0"/>
          </a:p>
          <a:p>
            <a:r>
              <a:rPr lang="en-US" altLang="en-US" dirty="0"/>
              <a:t>Compute capability</a:t>
            </a:r>
            <a:endParaRPr lang="en-US" altLang="en-US" dirty="0"/>
          </a:p>
          <a:p>
            <a:r>
              <a:rPr lang="en-US" altLang="en-US" dirty="0"/>
              <a:t>Step 2</a:t>
            </a:r>
            <a:r>
              <a:rPr lang="en-IN" altLang="en-US" dirty="0"/>
              <a:t>:</a:t>
            </a:r>
            <a:r>
              <a:rPr lang="en-US" altLang="en-US" dirty="0"/>
              <a:t>EdgeLens searches available AI models.</a:t>
            </a:r>
            <a:endParaRPr lang="en-US" altLang="en-US" dirty="0"/>
          </a:p>
          <a:p>
            <a:r>
              <a:rPr lang="en-US" altLang="en-US" dirty="0"/>
              <a:t>Step 3</a:t>
            </a:r>
            <a:r>
              <a:rPr lang="en-IN" altLang="en-US" dirty="0"/>
              <a:t>:</a:t>
            </a:r>
            <a:r>
              <a:rPr lang="en-US" altLang="en-US" dirty="0"/>
              <a:t>Platform analyzes compatibility and deployment feasibility.</a:t>
            </a:r>
            <a:endParaRPr lang="en-US" altLang="en-US" dirty="0"/>
          </a:p>
          <a:p>
            <a:r>
              <a:rPr lang="en-US" altLang="en-US" dirty="0"/>
              <a:t>Step 4</a:t>
            </a:r>
            <a:r>
              <a:rPr lang="en-IN" altLang="en-US" dirty="0"/>
              <a:t>:</a:t>
            </a:r>
            <a:r>
              <a:rPr lang="en-US" altLang="en-US" dirty="0"/>
              <a:t>User receives recommended deployable models</a:t>
            </a:r>
            <a:endParaRPr lang="en-US" altLang="en-US" dirty="0"/>
          </a:p>
          <a:p>
            <a:br>
              <a:rPr lang="en-IN" dirty="0"/>
            </a:br>
            <a:r>
              <a:rPr lang="en-IN" dirty="0"/>
              <a:t>How User Interacts:</a:t>
            </a:r>
            <a:endParaRPr lang="en-IN" dirty="0"/>
          </a:p>
          <a:p>
            <a:r>
              <a:rPr lang="en-IN" dirty="0"/>
              <a:t>User can follow the above steps and easily just enter a prompt and get immediate solutions.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Key Moments:</a:t>
            </a:r>
            <a:endParaRPr lang="en-IN" dirty="0"/>
          </a:p>
          <a:p>
            <a:r>
              <a:rPr lang="en-IN" dirty="0"/>
              <a:t>Quick and instant solutions.</a:t>
            </a:r>
            <a:endParaRPr lang="en-IN" dirty="0"/>
          </a:p>
          <a:p>
            <a:r>
              <a:rPr lang="en-IN" dirty="0"/>
              <a:t>Easy and fast decision making.</a:t>
            </a:r>
            <a:endParaRPr lang="en-IN" dirty="0"/>
          </a:p>
          <a:p>
            <a:r>
              <a:rPr lang="en-IN" dirty="0"/>
              <a:t>Time redundancy,fast workflow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IN" altLang="en-US" sz="1000" dirty="0">
                <a:solidFill>
                  <a:schemeClr val="bg1"/>
                </a:solidFill>
              </a:rPr>
              <a:t>Edge_Lens</a:t>
            </a:r>
            <a:endParaRPr lang="en-IN" alt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4265" b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 &amp; Architecture</a:t>
            </a:r>
            <a:endParaRPr lang="en-US" sz="4265" dirty="0"/>
          </a:p>
        </p:txBody>
      </p:sp>
      <p:sp>
        <p:nvSpPr>
          <p:cNvPr id="18" name="Text 1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endParaRPr lang="en-US" sz="26665" dirty="0"/>
          </a:p>
        </p:txBody>
      </p:sp>
      <p:sp>
        <p:nvSpPr>
          <p:cNvPr id="9" name="TextBox 8"/>
          <p:cNvSpPr txBox="1"/>
          <p:nvPr/>
        </p:nvSpPr>
        <p:spPr>
          <a:xfrm>
            <a:off x="740410" y="1395730"/>
            <a:ext cx="10001250" cy="535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Tech Stack:</a:t>
            </a:r>
            <a:endParaRPr lang="en-IN" dirty="0"/>
          </a:p>
          <a:p>
            <a:r>
              <a:rPr lang="en-US" altLang="en-US" dirty="0"/>
              <a:t>Frontend</a:t>
            </a:r>
            <a:endParaRPr lang="en-US" altLang="en-US" dirty="0"/>
          </a:p>
          <a:p>
            <a:r>
              <a:rPr lang="en-US" altLang="en-US" dirty="0"/>
              <a:t>HTML</a:t>
            </a:r>
            <a:endParaRPr lang="en-US" altLang="en-US" dirty="0"/>
          </a:p>
          <a:p>
            <a:r>
              <a:rPr lang="en-US" altLang="en-US" dirty="0"/>
              <a:t>CSS</a:t>
            </a:r>
            <a:endParaRPr lang="en-US" altLang="en-US" dirty="0"/>
          </a:p>
          <a:p>
            <a:r>
              <a:rPr lang="en-US" altLang="en-US" dirty="0"/>
              <a:t>JavaScript</a:t>
            </a:r>
            <a:endParaRPr lang="en-US" altLang="en-US" dirty="0"/>
          </a:p>
          <a:p>
            <a:r>
              <a:rPr lang="en-US" altLang="en-US" dirty="0"/>
              <a:t>Backend</a:t>
            </a:r>
            <a:endParaRPr lang="en-US" altLang="en-US" dirty="0"/>
          </a:p>
          <a:p>
            <a:r>
              <a:rPr lang="en-US" altLang="en-US" dirty="0"/>
              <a:t>Node.js</a:t>
            </a:r>
            <a:endParaRPr lang="en-US" altLang="en-US" dirty="0"/>
          </a:p>
          <a:p>
            <a:r>
              <a:rPr lang="en-US" altLang="en-US" dirty="0"/>
              <a:t>Express.js</a:t>
            </a:r>
            <a:endParaRPr lang="en-US" altLang="en-US" dirty="0"/>
          </a:p>
          <a:p>
            <a:r>
              <a:rPr lang="en-US" altLang="en-US" dirty="0"/>
              <a:t>APIs &amp; Platforms</a:t>
            </a:r>
            <a:endParaRPr lang="en-US" altLang="en-US" dirty="0"/>
          </a:p>
          <a:p>
            <a:r>
              <a:rPr lang="en-US" altLang="en-US" dirty="0"/>
              <a:t>HuggingFace API</a:t>
            </a:r>
            <a:endParaRPr lang="en-US" altLang="en-US" dirty="0"/>
          </a:p>
          <a:p>
            <a:r>
              <a:rPr lang="en-US" altLang="en-US" dirty="0"/>
              <a:t>GitHub repositories</a:t>
            </a:r>
            <a:endParaRPr lang="en-US" altLang="en-US" dirty="0"/>
          </a:p>
          <a:p>
            <a:r>
              <a:rPr lang="en-IN" altLang="en-US" dirty="0"/>
              <a:t>Ollama </a:t>
            </a:r>
            <a:endParaRPr lang="en-IN" altLang="en-US" dirty="0"/>
          </a:p>
          <a:p>
            <a:r>
              <a:rPr lang="en-IN" altLang="en-US" dirty="0"/>
              <a:t>Open Claw </a:t>
            </a:r>
            <a:endParaRPr lang="en-IN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IN" dirty="0"/>
              <a:t>AI usage( model, APIs, Framework):data collection,simple but heavily powered filtering system using AI</a:t>
            </a:r>
            <a:endParaRPr lang="en-IN" dirty="0"/>
          </a:p>
          <a:p>
            <a:br>
              <a:rPr lang="en-IN" dirty="0"/>
            </a:br>
            <a:r>
              <a:rPr lang="en-IN" dirty="0"/>
              <a:t>System Flow( simple):</a:t>
            </a:r>
            <a:r>
              <a:rPr lang="en-US" altLang="en-US" dirty="0"/>
              <a:t>User Input → Hardware Analysis → Model Search → Compatibility Filtering → Recommended Model</a:t>
            </a:r>
            <a:endParaRPr lang="en-US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IN" altLang="en-US" sz="1000" dirty="0">
                <a:solidFill>
                  <a:schemeClr val="bg1"/>
                </a:solidFill>
              </a:rPr>
              <a:t>Edge_Lens</a:t>
            </a:r>
            <a:endParaRPr lang="en-IN" alt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4265" b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Impact &amp; Use cases</a:t>
            </a:r>
            <a:endParaRPr lang="en-US" sz="4265" dirty="0"/>
          </a:p>
        </p:txBody>
      </p:sp>
      <p:sp>
        <p:nvSpPr>
          <p:cNvPr id="18" name="Text 1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endParaRPr lang="en-US" sz="26665" dirty="0"/>
          </a:p>
        </p:txBody>
      </p:sp>
      <p:sp>
        <p:nvSpPr>
          <p:cNvPr id="9" name="TextBox 8"/>
          <p:cNvSpPr txBox="1"/>
          <p:nvPr/>
        </p:nvSpPr>
        <p:spPr>
          <a:xfrm>
            <a:off x="740410" y="1682750"/>
            <a:ext cx="6179820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Real life scenario -&gt;3/4 different:</a:t>
            </a:r>
            <a:endParaRPr lang="en-IN" dirty="0"/>
          </a:p>
          <a:p>
            <a:r>
              <a:rPr lang="en-IN" dirty="0"/>
              <a:t>Students working on hackathons--be it hardware or software.</a:t>
            </a:r>
            <a:endParaRPr lang="en-IN" dirty="0"/>
          </a:p>
          <a:p>
            <a:r>
              <a:rPr lang="en-IN" dirty="0"/>
              <a:t>Developers can look into embedded AI systems. </a:t>
            </a:r>
            <a:endParaRPr lang="en-IN" dirty="0"/>
          </a:p>
          <a:p>
            <a:r>
              <a:rPr lang="en-IN" dirty="0"/>
              <a:t>Researchers can easily find the data that they need. </a:t>
            </a:r>
            <a:endParaRPr lang="en-IN" dirty="0"/>
          </a:p>
          <a:p>
            <a:r>
              <a:rPr lang="en-IN" dirty="0"/>
              <a:t>Startups:faster and quicker prototyping.</a:t>
            </a:r>
            <a:endParaRPr lang="en-IN" dirty="0"/>
          </a:p>
          <a:p>
            <a:endParaRPr lang="en-IN" dirty="0"/>
          </a:p>
          <a:p>
            <a:r>
              <a:rPr lang="en-IN" dirty="0"/>
              <a:t>Scale Potential: </a:t>
            </a:r>
            <a:endParaRPr lang="en-IN" dirty="0"/>
          </a:p>
          <a:p>
            <a:r>
              <a:rPr lang="en-US" altLang="en-US" dirty="0"/>
              <a:t>Edge AI is growing rapidly across: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Smart devices</a:t>
            </a:r>
            <a:endParaRPr lang="en-US" altLang="en-US" dirty="0"/>
          </a:p>
          <a:p>
            <a:r>
              <a:rPr lang="en-US" altLang="en-US" dirty="0"/>
              <a:t>Robotics</a:t>
            </a:r>
            <a:endParaRPr lang="en-US" altLang="en-US" dirty="0"/>
          </a:p>
          <a:p>
            <a:r>
              <a:rPr lang="en-US" altLang="en-US" dirty="0"/>
              <a:t>Healthcare</a:t>
            </a:r>
            <a:endParaRPr lang="en-US" altLang="en-US" dirty="0"/>
          </a:p>
          <a:p>
            <a:r>
              <a:rPr lang="en-US" altLang="en-US" dirty="0"/>
              <a:t>Agriculture</a:t>
            </a:r>
            <a:endParaRPr lang="en-US" altLang="en-US" dirty="0"/>
          </a:p>
          <a:p>
            <a:r>
              <a:rPr lang="en-US" altLang="en-US" dirty="0"/>
              <a:t>Surveillance systems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EdgeLens can become a productivity platform for deployable AI research.</a:t>
            </a:r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IN" altLang="en-US" sz="1000" dirty="0">
                <a:solidFill>
                  <a:schemeClr val="bg1"/>
                </a:solidFill>
              </a:rPr>
              <a:t>Edge_Lens</a:t>
            </a:r>
            <a:endParaRPr lang="en-IN" alt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4265" b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Differentiation</a:t>
            </a:r>
            <a:endParaRPr lang="en-US" sz="4265" dirty="0"/>
          </a:p>
        </p:txBody>
      </p:sp>
      <p:sp>
        <p:nvSpPr>
          <p:cNvPr id="18" name="Text 1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endParaRPr lang="en-US" sz="26665" dirty="0"/>
          </a:p>
        </p:txBody>
      </p:sp>
      <p:sp>
        <p:nvSpPr>
          <p:cNvPr id="9" name="TextBox 8"/>
          <p:cNvSpPr txBox="1"/>
          <p:nvPr/>
        </p:nvSpPr>
        <p:spPr>
          <a:xfrm>
            <a:off x="740410" y="1682750"/>
            <a:ext cx="7170420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Why our solution stands out</a:t>
            </a:r>
            <a:endParaRPr lang="en-IN" dirty="0"/>
          </a:p>
          <a:p>
            <a:r>
              <a:rPr lang="en-IN" dirty="0"/>
              <a:t>1-2 Strong MOAT:</a:t>
            </a:r>
            <a:endParaRPr lang="en-IN" dirty="0"/>
          </a:p>
          <a:p>
            <a:r>
              <a:rPr lang="en-US" altLang="en-US" dirty="0"/>
              <a:t>Most platforms only provide AI models.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EdgeLens focuses specifically on:</a:t>
            </a:r>
            <a:endParaRPr lang="en-US" altLang="en-US" dirty="0"/>
          </a:p>
          <a:p>
            <a:r>
              <a:rPr lang="en-US" altLang="en-US" dirty="0"/>
              <a:t>Deployability</a:t>
            </a:r>
            <a:endParaRPr lang="en-US" altLang="en-US" dirty="0"/>
          </a:p>
          <a:p>
            <a:r>
              <a:rPr lang="en-US" altLang="en-US" dirty="0"/>
              <a:t>Hardware practicality</a:t>
            </a:r>
            <a:endParaRPr lang="en-US" altLang="en-US" dirty="0"/>
          </a:p>
          <a:p>
            <a:r>
              <a:rPr lang="en-US" altLang="en-US" dirty="0"/>
              <a:t>Productivity</a:t>
            </a:r>
            <a:endParaRPr lang="en-US" altLang="en-US" dirty="0"/>
          </a:p>
          <a:p>
            <a:r>
              <a:rPr lang="en-US" altLang="en-US" dirty="0"/>
              <a:t>Real-world compatibility</a:t>
            </a:r>
            <a:endParaRPr lang="en-US" altLang="en-US" dirty="0"/>
          </a:p>
          <a:p>
            <a:r>
              <a:rPr lang="en-US" altLang="en-US" dirty="0"/>
              <a:t>Strong MOAT</a:t>
            </a:r>
            <a:endParaRPr lang="en-US" altLang="en-US" dirty="0"/>
          </a:p>
          <a:p>
            <a:r>
              <a:rPr lang="en-US" altLang="en-US" dirty="0"/>
              <a:t>Hardware-Aware Filtering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Recommendations are based on actual device constraints.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Research + Deployment Combined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We combine scattered information into one streamlined workflow</a:t>
            </a:r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IN" altLang="en-US" sz="1000" dirty="0">
                <a:solidFill>
                  <a:schemeClr val="bg1"/>
                </a:solidFill>
              </a:rPr>
              <a:t>Edge_Lens</a:t>
            </a:r>
            <a:endParaRPr lang="en-IN" alt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4265" b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 Link</a:t>
            </a:r>
            <a:endParaRPr lang="en-US" sz="4265" dirty="0"/>
          </a:p>
        </p:txBody>
      </p:sp>
      <p:sp>
        <p:nvSpPr>
          <p:cNvPr id="18" name="Text 1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endParaRPr lang="en-US" sz="26665" dirty="0"/>
          </a:p>
        </p:txBody>
      </p:sp>
      <p:sp>
        <p:nvSpPr>
          <p:cNvPr id="9" name="TextBox 8"/>
          <p:cNvSpPr txBox="1"/>
          <p:nvPr/>
        </p:nvSpPr>
        <p:spPr>
          <a:xfrm>
            <a:off x="347345" y="1682750"/>
            <a:ext cx="7296785" cy="20637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dirty="0"/>
              <a:t>GitHub Repo:</a:t>
            </a:r>
            <a:r>
              <a:rPr lang="en-US" altLang="en-US" dirty="0"/>
              <a:t>https://github.com/anotheraccountforalishaea/prism_edgelens</a:t>
            </a:r>
            <a:br>
              <a:rPr lang="en-IN" dirty="0"/>
            </a:br>
            <a:r>
              <a:rPr lang="en-IN" dirty="0"/>
              <a:t>Demo Link: </a:t>
            </a:r>
            <a:r>
              <a:rPr lang="en-US" altLang="en-US" dirty="0"/>
              <a:t>https://drive.google.com/file/d/1SaUTiYwkn-i5w_b7_KfEMVtZvVE8VhXK/view?usp=sharing</a:t>
            </a:r>
            <a:br>
              <a:rPr lang="en-IN" dirty="0"/>
            </a:br>
            <a:r>
              <a:rPr lang="en-IN" dirty="0"/>
              <a:t>Document submitted: </a:t>
            </a:r>
            <a:r>
              <a:rPr lang="en-US" altLang="en-US" dirty="0"/>
              <a:t>https://drive.google.com/drive/folders/1qk8JK3fpJuEcrt7pgI6foUD4EoJyUnON?usp=sharing</a:t>
            </a:r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IN" altLang="en-US" sz="1000" dirty="0">
                <a:solidFill>
                  <a:schemeClr val="bg1"/>
                </a:solidFill>
              </a:rPr>
              <a:t>Edge_Lens</a:t>
            </a:r>
            <a:endParaRPr lang="en-IN" alt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4265" b="1" dirty="0"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&lt;Brownie Slide&gt;</a:t>
            </a:r>
            <a:endParaRPr lang="en-US" sz="4265" dirty="0"/>
          </a:p>
        </p:txBody>
      </p:sp>
      <p:sp>
        <p:nvSpPr>
          <p:cNvPr id="18" name="Text 1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endParaRPr lang="en-US" sz="26665" dirty="0"/>
          </a:p>
        </p:txBody>
      </p:sp>
      <p:sp>
        <p:nvSpPr>
          <p:cNvPr id="9" name="TextBox 8"/>
          <p:cNvSpPr txBox="1"/>
          <p:nvPr/>
        </p:nvSpPr>
        <p:spPr>
          <a:xfrm>
            <a:off x="740496" y="1682945"/>
            <a:ext cx="55705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If you want to add something which is not added above, use this slide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4094</Words>
  <Application>WPS Presentation</Application>
  <PresentationFormat>Widescreen</PresentationFormat>
  <Paragraphs>169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Arial</vt:lpstr>
      <vt:lpstr>SimSun</vt:lpstr>
      <vt:lpstr>Wingdings</vt:lpstr>
      <vt:lpstr>Berlin Sans FB Demi</vt:lpstr>
      <vt:lpstr>SamsungOne 800</vt:lpstr>
      <vt:lpstr>Yu Gothic UI Semibold</vt:lpstr>
      <vt:lpstr>Calibri</vt:lpstr>
      <vt:lpstr>Calibri</vt:lpstr>
      <vt:lpstr>Calibri</vt:lpstr>
      <vt:lpstr>Roboto</vt:lpstr>
      <vt:lpstr>Times New Roman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Prakhar Chandrakar ./PRISM /SRI-Bangalore/Professional/Samsung Electronics</dc:creator>
  <cp:lastModifiedBy>alish</cp:lastModifiedBy>
  <cp:revision>9</cp:revision>
  <dcterms:created xsi:type="dcterms:W3CDTF">2026-04-27T09:11:00Z</dcterms:created>
  <dcterms:modified xsi:type="dcterms:W3CDTF">2026-05-08T16:20:44Z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ICV">
    <vt:lpwstr>4C103BFC93B04063B9AADE535164C3D4_13</vt:lpwstr>
  </property>
  <property fmtid="{D5CDD505-2E9C-101B-9397-08002B2CF9AE}" pid="4" name="KSOProductBuildVer">
    <vt:lpwstr>1033-12.1.0.25242</vt:lpwstr>
  </property>
</Properties>
</file>